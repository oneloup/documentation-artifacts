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58" r:id="rId5"/>
    <p:sldId id="259" r:id="rId6"/>
    <p:sldId id="261" r:id="rId7"/>
    <p:sldId id="263" r:id="rId8"/>
    <p:sldId id="265" r:id="rId9"/>
    <p:sldId id="266" r:id="rId10"/>
    <p:sldId id="264" r:id="rId11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327"/>
  </p:normalViewPr>
  <p:slideViewPr>
    <p:cSldViewPr snapToGrid="0" snapToObjects="1">
      <p:cViewPr varScale="1">
        <p:scale>
          <a:sx n="33" d="100"/>
          <a:sy n="33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C7158-3EDA-D449-8D0F-DA0A67645948}" type="datetimeFigureOut">
              <a:rPr lang="en-US" smtClean="0"/>
              <a:t>20-Jan-20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28C9E-AFDC-3345-9ED4-F0F60104F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212E7D8-EF21-2543-93D3-E52749CD1EC8}"/>
              </a:ext>
            </a:extLst>
          </p:cNvPr>
          <p:cNvSpPr/>
          <p:nvPr userDrawn="1"/>
        </p:nvSpPr>
        <p:spPr>
          <a:xfrm>
            <a:off x="861219" y="3595738"/>
            <a:ext cx="25129908" cy="8531688"/>
          </a:xfrm>
          <a:prstGeom prst="roundRect">
            <a:avLst>
              <a:gd name="adj" fmla="val 6683"/>
            </a:avLst>
          </a:prstGeom>
          <a:solidFill>
            <a:srgbClr val="005A83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5847" y="4203903"/>
            <a:ext cx="12286059" cy="4519609"/>
          </a:xfrm>
        </p:spPr>
        <p:txBody>
          <a:bodyPr anchor="b"/>
          <a:lstStyle>
            <a:lvl1pPr algn="l">
              <a:defRPr sz="1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847" y="9308787"/>
            <a:ext cx="14344253" cy="2310326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AF9D7A-5BEE-9245-944A-197F51D542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0A9A71-07CD-1F41-BF33-CF2369394E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5847" y="1224115"/>
            <a:ext cx="6612396" cy="1755673"/>
          </a:xfrm>
          <a:prstGeom prst="rect">
            <a:avLst/>
          </a:prstGeom>
        </p:spPr>
      </p:pic>
      <p:pic>
        <p:nvPicPr>
          <p:cNvPr id="12" name="Picture 11" descr="A picture containing cable, necklace, knot&#10;&#10;Description automatically generated">
            <a:extLst>
              <a:ext uri="{FF2B5EF4-FFF2-40B4-BE49-F238E27FC236}">
                <a16:creationId xmlns:a16="http://schemas.microsoft.com/office/drawing/2014/main" id="{460C1D56-F2C1-7740-9150-DF25E2A37B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8000"/>
          </a:blip>
          <a:stretch>
            <a:fillRect/>
          </a:stretch>
        </p:blipFill>
        <p:spPr>
          <a:xfrm rot="16501011">
            <a:off x="19097665" y="7495832"/>
            <a:ext cx="5031755" cy="5031755"/>
          </a:xfrm>
          <a:prstGeom prst="rect">
            <a:avLst/>
          </a:prstGeom>
          <a:ln w="57150">
            <a:noFill/>
          </a:ln>
        </p:spPr>
      </p:pic>
      <p:pic>
        <p:nvPicPr>
          <p:cNvPr id="13" name="Picture 12" descr="A picture containing cable, necklace, knot&#10;&#10;Description automatically generated">
            <a:extLst>
              <a:ext uri="{FF2B5EF4-FFF2-40B4-BE49-F238E27FC236}">
                <a16:creationId xmlns:a16="http://schemas.microsoft.com/office/drawing/2014/main" id="{18835418-AAB3-834D-87EB-0B74B743288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8000"/>
          </a:blip>
          <a:stretch>
            <a:fillRect/>
          </a:stretch>
        </p:blipFill>
        <p:spPr>
          <a:xfrm rot="16501011">
            <a:off x="12290465" y="2043298"/>
            <a:ext cx="5031755" cy="5031755"/>
          </a:xfrm>
          <a:prstGeom prst="rect">
            <a:avLst/>
          </a:prstGeom>
          <a:ln w="57150">
            <a:noFill/>
          </a:ln>
        </p:spPr>
      </p:pic>
      <p:pic>
        <p:nvPicPr>
          <p:cNvPr id="14" name="Picture 13" descr="A picture containing cable, necklace, knot&#10;&#10;Description automatically generated">
            <a:extLst>
              <a:ext uri="{FF2B5EF4-FFF2-40B4-BE49-F238E27FC236}">
                <a16:creationId xmlns:a16="http://schemas.microsoft.com/office/drawing/2014/main" id="{B521E106-8648-8741-A7AD-70A8F3AE0B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8000"/>
          </a:blip>
          <a:stretch>
            <a:fillRect/>
          </a:stretch>
        </p:blipFill>
        <p:spPr>
          <a:xfrm rot="16501011">
            <a:off x="21790063" y="5444756"/>
            <a:ext cx="3699541" cy="3699541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75184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CB14EC90-E499-7F40-A81C-63D0DD2592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212E7D8-EF21-2543-93D3-E52749CD1EC8}"/>
              </a:ext>
            </a:extLst>
          </p:cNvPr>
          <p:cNvSpPr/>
          <p:nvPr userDrawn="1"/>
        </p:nvSpPr>
        <p:spPr>
          <a:xfrm>
            <a:off x="861219" y="3595738"/>
            <a:ext cx="25129908" cy="8531688"/>
          </a:xfrm>
          <a:prstGeom prst="roundRect">
            <a:avLst>
              <a:gd name="adj" fmla="val 6683"/>
            </a:avLst>
          </a:prstGeom>
          <a:solidFill>
            <a:srgbClr val="005A83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5847" y="4203903"/>
            <a:ext cx="12286059" cy="4519609"/>
          </a:xfrm>
        </p:spPr>
        <p:txBody>
          <a:bodyPr anchor="b"/>
          <a:lstStyle>
            <a:lvl1pPr algn="l">
              <a:defRPr sz="1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5847" y="9308787"/>
            <a:ext cx="14344253" cy="2310326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AF9D7A-5BEE-9245-944A-197F51D542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0A9A71-07CD-1F41-BF33-CF2369394E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847" y="1224115"/>
            <a:ext cx="6612396" cy="1755673"/>
          </a:xfrm>
          <a:prstGeom prst="rect">
            <a:avLst/>
          </a:prstGeom>
        </p:spPr>
      </p:pic>
      <p:pic>
        <p:nvPicPr>
          <p:cNvPr id="12" name="Picture 11" descr="A picture containing cable, necklace, knot&#10;&#10;Description automatically generated">
            <a:extLst>
              <a:ext uri="{FF2B5EF4-FFF2-40B4-BE49-F238E27FC236}">
                <a16:creationId xmlns:a16="http://schemas.microsoft.com/office/drawing/2014/main" id="{460C1D56-F2C1-7740-9150-DF25E2A37B5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8000"/>
          </a:blip>
          <a:stretch>
            <a:fillRect/>
          </a:stretch>
        </p:blipFill>
        <p:spPr>
          <a:xfrm rot="16501011">
            <a:off x="19097665" y="7495832"/>
            <a:ext cx="5031755" cy="5031755"/>
          </a:xfrm>
          <a:prstGeom prst="rect">
            <a:avLst/>
          </a:prstGeom>
          <a:ln w="57150">
            <a:noFill/>
          </a:ln>
        </p:spPr>
      </p:pic>
      <p:pic>
        <p:nvPicPr>
          <p:cNvPr id="13" name="Picture 12" descr="A picture containing cable, necklace, knot&#10;&#10;Description automatically generated">
            <a:extLst>
              <a:ext uri="{FF2B5EF4-FFF2-40B4-BE49-F238E27FC236}">
                <a16:creationId xmlns:a16="http://schemas.microsoft.com/office/drawing/2014/main" id="{18835418-AAB3-834D-87EB-0B74B743288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8000"/>
          </a:blip>
          <a:stretch>
            <a:fillRect/>
          </a:stretch>
        </p:blipFill>
        <p:spPr>
          <a:xfrm rot="16501011">
            <a:off x="12290465" y="2043298"/>
            <a:ext cx="5031755" cy="5031755"/>
          </a:xfrm>
          <a:prstGeom prst="rect">
            <a:avLst/>
          </a:prstGeom>
          <a:ln w="57150">
            <a:noFill/>
          </a:ln>
        </p:spPr>
      </p:pic>
      <p:pic>
        <p:nvPicPr>
          <p:cNvPr id="14" name="Picture 13" descr="A picture containing cable, necklace, knot&#10;&#10;Description automatically generated">
            <a:extLst>
              <a:ext uri="{FF2B5EF4-FFF2-40B4-BE49-F238E27FC236}">
                <a16:creationId xmlns:a16="http://schemas.microsoft.com/office/drawing/2014/main" id="{B521E106-8648-8741-A7AD-70A8F3AE0B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8000"/>
          </a:blip>
          <a:stretch>
            <a:fillRect/>
          </a:stretch>
        </p:blipFill>
        <p:spPr>
          <a:xfrm rot="16501011">
            <a:off x="21790063" y="5444756"/>
            <a:ext cx="3699541" cy="3699541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04726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7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62D33483-5DC1-4919-B94C-777794C8A7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0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40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51FDB6C-806C-4135-BCBC-52AC466F4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917" y="3419477"/>
            <a:ext cx="21033938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917" y="9178927"/>
            <a:ext cx="21033938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61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008" y="3651250"/>
            <a:ext cx="10364549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2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795" y="730251"/>
            <a:ext cx="21033938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796" y="3362326"/>
            <a:ext cx="10316917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796" y="5010150"/>
            <a:ext cx="1031691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6007" y="3362326"/>
            <a:ext cx="1036772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6007" y="5010150"/>
            <a:ext cx="1036772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9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4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7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rgbClr val="005A8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5A83"/>
                </a:solidFill>
              </a:defRPr>
            </a:lvl1pPr>
          </a:lstStyle>
          <a:p>
            <a:fld id="{20AF9D7A-5BEE-9245-944A-197F51D542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59802E9-285F-8F43-B76C-6EF8FC067CA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76618" y="12727286"/>
            <a:ext cx="2317605" cy="61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1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8" r:id="rId4"/>
    <p:sldLayoutId id="2147483663" r:id="rId5"/>
    <p:sldLayoutId id="2147483669" r:id="rId6"/>
    <p:sldLayoutId id="2147483664" r:id="rId7"/>
    <p:sldLayoutId id="2147483665" r:id="rId8"/>
    <p:sldLayoutId id="2147483666" r:id="rId9"/>
    <p:sldLayoutId id="2147483667" r:id="rId10"/>
  </p:sldLayoutIdLs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b="1" kern="1200">
          <a:solidFill>
            <a:srgbClr val="005A83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40E0-9BA0-4725-A6B7-BB7C66F80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2449" y="5030223"/>
            <a:ext cx="19037179" cy="2682930"/>
          </a:xfrm>
        </p:spPr>
        <p:txBody>
          <a:bodyPr/>
          <a:lstStyle/>
          <a:p>
            <a:r>
              <a:rPr lang="en-US" dirty="0"/>
              <a:t>Commercial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304FD-7CAF-4D06-B5AC-16FD1757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0AFA6F41-0270-4C3D-8506-94E84B801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303" y="8776265"/>
            <a:ext cx="3152628" cy="31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5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76C5-4F89-484C-80BA-39559D4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C230-3792-48EC-A9D5-48CC4D92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OneLoup – connecting FSP’s in a realtime, interoperable &amp; secure platform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Seamless transactions amongst wallets and bank accounts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For individual and business transactions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Meeting the UN SDG of fees below 3% of face – zero fee for low value </a:t>
            </a:r>
            <a:r>
              <a:rPr lang="en-US" dirty="0" err="1"/>
              <a:t>trx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A68DB-A849-43A9-ADF8-ACDD34C3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BAD4BB-81E6-4475-BE31-CDAA239B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403" y="140570"/>
            <a:ext cx="3158002" cy="31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29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76C5-4F89-484C-80BA-39559D4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Mojaloop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C230-3792-48EC-A9D5-48CC4D92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Core Mojaloop adoption</a:t>
            </a:r>
          </a:p>
          <a:p>
            <a:pPr lvl="1"/>
            <a:r>
              <a:rPr lang="en-US" dirty="0"/>
              <a:t>The OneLoup Cross Border Platform</a:t>
            </a:r>
          </a:p>
          <a:p>
            <a:pPr lvl="1"/>
            <a:r>
              <a:rPr lang="en-US" dirty="0"/>
              <a:t>The OneLoup white label domestic realtime retail payment system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Building upon what’s been done</a:t>
            </a:r>
          </a:p>
          <a:p>
            <a:pPr lvl="1"/>
            <a:r>
              <a:rPr lang="en-US" dirty="0"/>
              <a:t>Multicurrency, settlements, rules, security, licensing</a:t>
            </a:r>
          </a:p>
          <a:p>
            <a:pPr lvl="1"/>
            <a:r>
              <a:rPr lang="en-US" dirty="0"/>
              <a:t>Additional products &amp; services | </a:t>
            </a:r>
            <a:r>
              <a:rPr lang="en-US" dirty="0" err="1"/>
              <a:t>eWallet</a:t>
            </a:r>
            <a:r>
              <a:rPr lang="en-US" dirty="0"/>
              <a:t>, multicurrency accounts, loans, insurance, investments, payment gateway solutions for </a:t>
            </a:r>
            <a:r>
              <a:rPr lang="en-US" dirty="0" err="1"/>
              <a:t>eComm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Business solutions like escrow, bank guarantees, LC’s, insurance, working capital,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A68DB-A849-43A9-ADF8-ACDD34C3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326A4-CAE6-4027-AA99-A3665E36F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404" y="140570"/>
            <a:ext cx="3158002" cy="31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5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76C5-4F89-484C-80BA-39559D4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C230-3792-48EC-A9D5-48CC4D92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619" y="3151905"/>
            <a:ext cx="21942138" cy="102910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P2P </a:t>
            </a:r>
            <a:r>
              <a:rPr lang="en-US" b="1" i="1" dirty="0"/>
              <a:t>- $650 Billion market</a:t>
            </a:r>
          </a:p>
          <a:p>
            <a:pPr marL="0" indent="0">
              <a:buNone/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The 2 Billion unbanked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Financial Inclusion by bringing them on the digital platform, establishing a credit rating, offering them financial products (OTC does not offer this)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Banks account for less than 10% of transactions (MTO dominated, teller dependent)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Focus on STP transactions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Low fees – below the UN SDG 3% threshold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Rebate model example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Zero fees for low value transactions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Micro Savings &amp; Insurance plans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Multi-targeted transactions enabling, bill payments, education, medical, investments (real-estate), apart from family fund transfers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Ability to Pull transactions as well – request to Pay, in addition to Push transactions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Recurring payments instructions for automatic transfers on pre-determined dates, </a:t>
            </a:r>
            <a:r>
              <a:rPr lang="en-US" dirty="0" err="1"/>
              <a:t>etc</a:t>
            </a:r>
            <a:endParaRPr lang="en-US" dirty="0"/>
          </a:p>
          <a:p>
            <a:pPr marL="9144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A68DB-A849-43A9-ADF8-ACDD34C3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A8394-CFD9-4629-9F1D-C9BE0A3D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1038" y="0"/>
            <a:ext cx="3158002" cy="31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4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76C5-4F89-484C-80BA-39559D4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C230-3792-48EC-A9D5-48CC4D92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619" y="3651249"/>
            <a:ext cx="21033938" cy="8831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SME Business </a:t>
            </a:r>
            <a:r>
              <a:rPr lang="en-US" b="1" i="1" dirty="0"/>
              <a:t>- $15 Trillion market ($125 T total)</a:t>
            </a:r>
          </a:p>
          <a:p>
            <a:pPr lvl="1"/>
            <a:r>
              <a:rPr lang="en-US" dirty="0"/>
              <a:t>High costs</a:t>
            </a:r>
          </a:p>
          <a:p>
            <a:pPr lvl="1"/>
            <a:r>
              <a:rPr lang="en-US" dirty="0"/>
              <a:t>Many intermediary banks – hops</a:t>
            </a:r>
          </a:p>
          <a:p>
            <a:pPr lvl="1"/>
            <a:r>
              <a:rPr lang="en-US" dirty="0"/>
              <a:t>Lack of visibility on costs and timing</a:t>
            </a:r>
          </a:p>
          <a:p>
            <a:pPr lvl="1"/>
            <a:r>
              <a:rPr lang="en-US" dirty="0"/>
              <a:t>Lack of transaction traceability</a:t>
            </a:r>
          </a:p>
          <a:p>
            <a:pPr lvl="1"/>
            <a:r>
              <a:rPr lang="en-US" dirty="0"/>
              <a:t>Speed issues – several days, working capital</a:t>
            </a:r>
          </a:p>
          <a:p>
            <a:pPr marL="9144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Mojaloop</a:t>
            </a:r>
          </a:p>
          <a:p>
            <a:pPr lvl="1"/>
            <a:r>
              <a:rPr lang="en-US" dirty="0"/>
              <a:t>One standardized connection, increased transparency, resiliency &amp; fraud protection, reduced costs, speed, rich data transfer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A68DB-A849-43A9-ADF8-ACDD34C3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A8394-CFD9-4629-9F1D-C9BE0A3D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1038" y="0"/>
            <a:ext cx="3158002" cy="31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13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76C5-4F89-484C-80BA-39559D4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A68DB-A849-43A9-ADF8-ACDD34C3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A8394-CFD9-4629-9F1D-C9BE0A3D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1038" y="0"/>
            <a:ext cx="3158002" cy="315190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E7BDB1F-BB15-453E-B16C-F4589A35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410" y="3522594"/>
            <a:ext cx="11325225" cy="842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42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76C5-4F89-484C-80BA-39559D42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Giving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C230-3792-48EC-A9D5-48CC4D92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Early stages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Business rules</a:t>
            </a:r>
          </a:p>
          <a:p>
            <a:pPr lvl="1"/>
            <a:r>
              <a:rPr lang="en-US" dirty="0"/>
              <a:t>Global &amp; country level compliance rules</a:t>
            </a:r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Progress updates</a:t>
            </a:r>
          </a:p>
          <a:p>
            <a:pPr lvl="1"/>
            <a:r>
              <a:rPr lang="en-US" dirty="0"/>
              <a:t>Collaboration at the Mojaloop Foundation level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914400" lvl="1" indent="0">
              <a:buNone/>
            </a:pPr>
            <a:r>
              <a:rPr lang="en-US" dirty="0"/>
              <a:t>					</a:t>
            </a:r>
            <a:r>
              <a:rPr lang="en-US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A68DB-A849-43A9-ADF8-ACDD34C3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9D7A-5BEE-9245-944A-197F51D542D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A8394-CFD9-4629-9F1D-C9BE0A3D9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1038" y="0"/>
            <a:ext cx="3158002" cy="31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7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AAC203550B4E40A8ED4C6A11385C01" ma:contentTypeVersion="11" ma:contentTypeDescription="Create a new document." ma:contentTypeScope="" ma:versionID="181c61fe5df22d1f59c38d74292c5168">
  <xsd:schema xmlns:xsd="http://www.w3.org/2001/XMLSchema" xmlns:xs="http://www.w3.org/2001/XMLSchema" xmlns:p="http://schemas.microsoft.com/office/2006/metadata/properties" xmlns:ns2="af12d3ca-d309-4d9b-872e-f669d895b06e" xmlns:ns3="6354f033-77ec-451f-a4b1-89785309665d" targetNamespace="http://schemas.microsoft.com/office/2006/metadata/properties" ma:root="true" ma:fieldsID="bd40b66ef5728273303597190f92243d" ns2:_="" ns3:_="">
    <xsd:import namespace="af12d3ca-d309-4d9b-872e-f669d895b06e"/>
    <xsd:import namespace="6354f033-77ec-451f-a4b1-8978530966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12d3ca-d309-4d9b-872e-f669d895b0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54f033-77ec-451f-a4b1-89785309665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880100-AD93-4165-9435-CF4F80F124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E3664A-EA3C-4E18-894D-9B94C9B30B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12d3ca-d309-4d9b-872e-f669d895b06e"/>
    <ds:schemaRef ds:uri="6354f033-77ec-451f-a4b1-8978530966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D56013-FFA3-4AA5-BFCF-7C4A0141612A}">
  <ds:schemaRefs>
    <ds:schemaRef ds:uri="http://purl.org/dc/elements/1.1/"/>
    <ds:schemaRef ds:uri="http://schemas.microsoft.com/office/2006/metadata/properties"/>
    <ds:schemaRef ds:uri="http://purl.org/dc/terms/"/>
    <ds:schemaRef ds:uri="6354f033-77ec-451f-a4b1-89785309665d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af12d3ca-d309-4d9b-872e-f669d895b06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14511</TotalTime>
  <Words>342</Words>
  <Application>Microsoft Office PowerPoint</Application>
  <PresentationFormat>Custom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Commercial Deployment</vt:lpstr>
      <vt:lpstr>Overview</vt:lpstr>
      <vt:lpstr>Leveraging Mojaloop</vt:lpstr>
      <vt:lpstr>Opportunities</vt:lpstr>
      <vt:lpstr>Opportunities</vt:lpstr>
      <vt:lpstr>Market Size</vt:lpstr>
      <vt:lpstr>Giving 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Tudor Vedeanu</dc:creator>
  <cp:lastModifiedBy>Reza Samad</cp:lastModifiedBy>
  <cp:revision>30</cp:revision>
  <dcterms:created xsi:type="dcterms:W3CDTF">2020-01-08T21:13:28Z</dcterms:created>
  <dcterms:modified xsi:type="dcterms:W3CDTF">2020-01-22T11:41:43Z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0x01010028AAC203550B4E40A8ED4C6A11385C01</vt:lpwstr>
  </property>
</Properties>
</file>